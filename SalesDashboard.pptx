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033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E1033"/>
                </a:solidFill>
                <a:latin typeface="Arial"/>
              </a:rPr>
              <a:t>Revenue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60-461A-AF69-D894950B4FC2}"/>
              </c:ext>
            </c:extLst>
          </c:dPt>
          <c:dPt>
            <c:idx val="1"/>
            <c:invertIfNegative val="0"/>
            <c:bubble3D val="0"/>
            <c:spPr>
              <a:solidFill>
                <a:srgbClr val="5B8D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60-461A-AF69-D894950B4FC2}"/>
              </c:ext>
            </c:extLst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260-461A-AF69-D894950B4FC2}"/>
              </c:ext>
            </c:extLst>
          </c:dPt>
          <c:cat>
            <c:strRef>
              <c:f>Sheet1!$A$2:$A$4</c:f>
              <c:strCache>
                <c:ptCount val="3"/>
                <c:pt idx="0">
                  <c:v>Office Supplies</c:v>
                </c:pt>
                <c:pt idx="1">
                  <c:v>Electronics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900000</c:v>
                </c:pt>
                <c:pt idx="2">
                  <c:v>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60-461A-AF69-D894950B4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0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DE9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033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E1033"/>
                </a:solidFill>
                <a:latin typeface="Arial"/>
              </a:rPr>
              <a:t>Payment Methods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D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480-4B3C-B20D-A3E9254ACDFA}"/>
              </c:ext>
            </c:extLst>
          </c:dPt>
          <c:dPt>
            <c:idx val="1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80-4B3C-B20D-A3E9254ACDFA}"/>
              </c:ext>
            </c:extLst>
          </c:dPt>
          <c:dPt>
            <c:idx val="2"/>
            <c:bubble3D val="0"/>
            <c:spPr>
              <a:solidFill>
                <a:srgbClr val="7D3C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80-4B3C-B20D-A3E9254ACDFA}"/>
              </c:ext>
            </c:extLst>
          </c:dPt>
          <c:dPt>
            <c:idx val="3"/>
            <c:bubble3D val="0"/>
            <c:spPr>
              <a:solidFill>
                <a:srgbClr val="85C1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80-4B3C-B20D-A3E9254ACDFA}"/>
              </c:ext>
            </c:extLst>
          </c:dPt>
          <c:dPt>
            <c:idx val="4"/>
            <c:bubble3D val="0"/>
            <c:spPr>
              <a:solidFill>
                <a:srgbClr val="6C3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480-4B3C-B20D-A3E9254ACDF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80-4B3C-B20D-A3E9254ACDF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80-4B3C-B20D-A3E9254ACDF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80-4B3C-B20D-A3E9254ACDF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480-4B3C-B20D-A3E9254ACDF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480-4B3C-B20D-A3E9254ACDF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Debit Card</c:v>
                </c:pt>
                <c:pt idx="1">
                  <c:v>COD</c:v>
                </c:pt>
                <c:pt idx="2">
                  <c:v>UPI</c:v>
                </c:pt>
                <c:pt idx="3">
                  <c:v>EMI</c:v>
                </c:pt>
                <c:pt idx="4">
                  <c:v>Credit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23.85</c:v>
                </c:pt>
                <c:pt idx="1">
                  <c:v>20.47</c:v>
                </c:pt>
                <c:pt idx="2">
                  <c:v>19.329999999999998</c:v>
                </c:pt>
                <c:pt idx="3">
                  <c:v>18.48</c:v>
                </c:pt>
                <c:pt idx="4">
                  <c:v>17.87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480-4B3C-B20D-A3E9254ACD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1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DE9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033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1033"/>
                </a:solidFill>
                <a:latin typeface="Arial"/>
              </a:rPr>
              <a:t>Sales by State (Top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5B4F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New York</c:v>
                </c:pt>
                <c:pt idx="1">
                  <c:v>Florida</c:v>
                </c:pt>
                <c:pt idx="2">
                  <c:v>Illinois</c:v>
                </c:pt>
                <c:pt idx="3">
                  <c:v>Texas</c:v>
                </c:pt>
                <c:pt idx="4">
                  <c:v>Ohio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520000</c:v>
                </c:pt>
                <c:pt idx="1">
                  <c:v>490000</c:v>
                </c:pt>
                <c:pt idx="2">
                  <c:v>470000</c:v>
                </c:pt>
                <c:pt idx="3">
                  <c:v>450000</c:v>
                </c:pt>
                <c:pt idx="4">
                  <c:v>410000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5F-47D7-8E72-E4661C3406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0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DE9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 w="31750" cap="flat">
              <a:solidFill>
                <a:srgbClr val="5B8DE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8DEF"/>
              </a:solidFill>
              <a:ln w="9525" cap="flat">
                <a:solidFill>
                  <a:srgbClr val="5B8DE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480000</c:v>
                </c:pt>
                <c:pt idx="1">
                  <c:v>490000</c:v>
                </c:pt>
                <c:pt idx="2">
                  <c:v>510000</c:v>
                </c:pt>
                <c:pt idx="3">
                  <c:v>500000</c:v>
                </c:pt>
                <c:pt idx="4">
                  <c:v>510000</c:v>
                </c:pt>
                <c:pt idx="5">
                  <c:v>180000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244-4C93-B9AB-C136344602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ln w="31750" cap="flat">
              <a:solidFill>
                <a:srgbClr val="2D1B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1B69"/>
              </a:solidFill>
              <a:ln w="9525" cap="flat">
                <a:solidFill>
                  <a:srgbClr val="2D1B6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125000</c:v>
                </c:pt>
                <c:pt idx="1">
                  <c:v>128000</c:v>
                </c:pt>
                <c:pt idx="2">
                  <c:v>134000</c:v>
                </c:pt>
                <c:pt idx="3">
                  <c:v>130000</c:v>
                </c:pt>
                <c:pt idx="4">
                  <c:v>134000</c:v>
                </c:pt>
                <c:pt idx="5">
                  <c:v>45000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244-4C93-B9AB-C13634460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0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1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DE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4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4A3080">
              <a:alpha val="70000"/>
            </a:srgbClr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71235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— Key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454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4540" y="1078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3454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756K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3454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078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9476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5498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54980" y="1078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549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5498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0058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0789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4A3080">
              <a:alpha val="1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299923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generated $3M in revenue over 5 years across 547 orders. With a profit margin of 26.25%, the business is fairly healthy — roughly 1 in 4 dollars is profit. The customer base of 544 suggests most customers placed just 1 order, which could be worth exploring.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394960" y="91440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9476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9136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Value: $5,260  |  Office Supplies leads revenue  |  Debit Card is the most preferred payment method (23.85%)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Customer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389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9144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EDE9FF"/>
          </a:solidFill>
          <a:ln w="63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Sales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25880"/>
          <a:ext cx="393192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Megan 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Patrick 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Jennifer Marshall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Tanya Thomas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$9,952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Weber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$9,914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1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79476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3913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is the top state by both sales and profit  |  6 states covered in dataset  |  Most high-value customers placed only 1 order — retention could be a growth opportunity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Trend (2020–2025)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8412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B8DEF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39044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Sales stayed fairly stable from 2020–2024 (around $480K–$510K per year), then dropped sharply in 2025 — likely because 2025 data is incomplete.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3840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7B5EA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39044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Profit tracked closely with sales throughout the period — the margin remained consistent, suggesting cost structure stayed stable over the years.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4A3080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dominates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highest revenue category — more focus here could drive further growth.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4A3080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188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leads all states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64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and Florida together contribute a big chunk of sales. Worth prioritizing marketing there.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4A3080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healthy at 26%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profitable. The margin has stayed steady, which is a good sign.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4A3080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repeat purchase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4015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ordered only once. A loyalty or re-engagement strategy could help here.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354</Words>
  <Application>Microsoft Office PowerPoint</Application>
  <PresentationFormat>On-screen Show (16:9)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Analysis</dc:title>
  <dc:subject>PptxGenJS Presentation</dc:subject>
  <dc:creator>PptxGenJS</dc:creator>
  <cp:lastModifiedBy>Aashna Anchan</cp:lastModifiedBy>
  <cp:revision>2</cp:revision>
  <dcterms:created xsi:type="dcterms:W3CDTF">2026-06-19T10:38:33Z</dcterms:created>
  <dcterms:modified xsi:type="dcterms:W3CDTF">2026-06-19T12:59:12Z</dcterms:modified>
</cp:coreProperties>
</file>